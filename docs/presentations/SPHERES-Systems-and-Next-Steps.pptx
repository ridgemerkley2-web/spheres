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df749bfc714157" /><Relationship Type="http://schemas.openxmlformats.org/officeDocument/2006/relationships/extended-properties" Target="/docProps/app.xml" Id="Rfa915a9927d642fb" /><Relationship Type="http://schemas.openxmlformats.org/officeDocument/2006/relationships/officeDocument" Target="/ppt/presentation.xml" Id="Rbc5a0eb5ab13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f5fb227db24f89"/>
  </p:sldMasterIdLst>
  <p:notesMasterIdLst>
    <p:notesMasterId xmlns:r="http://schemas.openxmlformats.org/officeDocument/2006/relationships" r:id="R382f6ff641934120"/>
  </p:notesMasterIdLst>
  <p:sldIdLst>
    <p:sldId xmlns:r="http://schemas.openxmlformats.org/officeDocument/2006/relationships" id="256" r:id="R19448628ce244134"/>
    <p:sldId xmlns:r="http://schemas.openxmlformats.org/officeDocument/2006/relationships" id="257" r:id="Rfaecc3285afe4802"/>
    <p:sldId xmlns:r="http://schemas.openxmlformats.org/officeDocument/2006/relationships" id="258" r:id="R1789a66485654832"/>
    <p:sldId xmlns:r="http://schemas.openxmlformats.org/officeDocument/2006/relationships" id="259" r:id="R3accbde7b1ba4999"/>
    <p:sldId xmlns:r="http://schemas.openxmlformats.org/officeDocument/2006/relationships" id="260" r:id="R16637165a9894baa"/>
    <p:sldId xmlns:r="http://schemas.openxmlformats.org/officeDocument/2006/relationships" id="261" r:id="R60ed1814ec48445e"/>
    <p:sldId xmlns:r="http://schemas.openxmlformats.org/officeDocument/2006/relationships" id="262" r:id="Rf9ccccce287345eb"/>
    <p:sldId xmlns:r="http://schemas.openxmlformats.org/officeDocument/2006/relationships" id="263" r:id="R30f85734ca4241b0"/>
    <p:sldId xmlns:r="http://schemas.openxmlformats.org/officeDocument/2006/relationships" id="264" r:id="R00b2f82b17f042f6"/>
    <p:sldId xmlns:r="http://schemas.openxmlformats.org/officeDocument/2006/relationships" id="265" r:id="R579692a8d2cf4558"/>
    <p:sldId xmlns:r="http://schemas.openxmlformats.org/officeDocument/2006/relationships" id="266" r:id="R5148d11b511f4cc4"/>
    <p:sldId xmlns:r="http://schemas.openxmlformats.org/officeDocument/2006/relationships" id="267" r:id="R38ec29478e214f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13992b23204997" /><Relationship Type="http://schemas.openxmlformats.org/officeDocument/2006/relationships/slideMaster" Target="/ppt/slideMasters/slideMaster1.xml" Id="R1ff5fb227db24f89" /><Relationship Type="http://schemas.openxmlformats.org/officeDocument/2006/relationships/notesMaster" Target="/ppt/notesMasters/notesMaster1.xml" Id="R382f6ff641934120" /><Relationship Type="http://schemas.openxmlformats.org/officeDocument/2006/relationships/presProps" Target="/ppt/presProps.xml" Id="R98d46de4398a4236" /><Relationship Type="http://schemas.openxmlformats.org/officeDocument/2006/relationships/tableStyles" Target="/ppt/tableStyles.xml" Id="R077b64d710a14a77" /><Relationship Type="http://schemas.openxmlformats.org/officeDocument/2006/relationships/slide" Target="/ppt/slides/slide1.xml" Id="R19448628ce244134" /><Relationship Type="http://schemas.openxmlformats.org/officeDocument/2006/relationships/slide" Target="/ppt/slides/slide2.xml" Id="Rfaecc3285afe4802" /><Relationship Type="http://schemas.openxmlformats.org/officeDocument/2006/relationships/slide" Target="/ppt/slides/slide3.xml" Id="R1789a66485654832" /><Relationship Type="http://schemas.openxmlformats.org/officeDocument/2006/relationships/slide" Target="/ppt/slides/slide4.xml" Id="R3accbde7b1ba4999" /><Relationship Type="http://schemas.openxmlformats.org/officeDocument/2006/relationships/slide" Target="/ppt/slides/slide5.xml" Id="R16637165a9894baa" /><Relationship Type="http://schemas.openxmlformats.org/officeDocument/2006/relationships/slide" Target="/ppt/slides/slide6.xml" Id="R60ed1814ec48445e" /><Relationship Type="http://schemas.openxmlformats.org/officeDocument/2006/relationships/slide" Target="/ppt/slides/slide7.xml" Id="Rf9ccccce287345eb" /><Relationship Type="http://schemas.openxmlformats.org/officeDocument/2006/relationships/slide" Target="/ppt/slides/slide8.xml" Id="R30f85734ca4241b0" /><Relationship Type="http://schemas.openxmlformats.org/officeDocument/2006/relationships/slide" Target="/ppt/slides/slide9.xml" Id="R00b2f82b17f042f6" /><Relationship Type="http://schemas.openxmlformats.org/officeDocument/2006/relationships/slide" Target="/ppt/slides/slide10.xml" Id="R579692a8d2cf4558" /><Relationship Type="http://schemas.openxmlformats.org/officeDocument/2006/relationships/slide" Target="/ppt/slides/slide11.xml" Id="R5148d11b511f4cc4" /><Relationship Type="http://schemas.openxmlformats.org/officeDocument/2006/relationships/slide" Target="/ppt/slides/slide12.xml" Id="R38ec29478e214f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c502042e644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67fa4c2c54a9e" /><Relationship Type="http://schemas.openxmlformats.org/officeDocument/2006/relationships/notesMaster" Target="/ppt/notesMasters/notesMaster1.xml" Id="R2da22b576d4f43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eac43f681422f" /><Relationship Type="http://schemas.openxmlformats.org/officeDocument/2006/relationships/notesMaster" Target="/ppt/notesMasters/notesMaster1.xml" Id="R178a1648145941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29ae79c5af4e32" /><Relationship Type="http://schemas.openxmlformats.org/officeDocument/2006/relationships/notesMaster" Target="/ppt/notesMasters/notesMaster1.xml" Id="R08b62fbb0fb840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a70a0ece654155" /><Relationship Type="http://schemas.openxmlformats.org/officeDocument/2006/relationships/notesMaster" Target="/ppt/notesMasters/notesMaster1.xml" Id="R711aaf75cc2140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b79b0313094672" /><Relationship Type="http://schemas.openxmlformats.org/officeDocument/2006/relationships/notesMaster" Target="/ppt/notesMasters/notesMaster1.xml" Id="Re619b9d325ba4a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38577776a44de" /><Relationship Type="http://schemas.openxmlformats.org/officeDocument/2006/relationships/notesMaster" Target="/ppt/notesMasters/notesMaster1.xml" Id="R18dd2721472149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3f9c6f57204464" /><Relationship Type="http://schemas.openxmlformats.org/officeDocument/2006/relationships/notesMaster" Target="/ppt/notesMasters/notesMaster1.xml" Id="R3668131f8298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c004ced7a24d74" /><Relationship Type="http://schemas.openxmlformats.org/officeDocument/2006/relationships/notesMaster" Target="/ppt/notesMasters/notesMaster1.xml" Id="R48da7fdc3d4244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81633891ba4c63" /><Relationship Type="http://schemas.openxmlformats.org/officeDocument/2006/relationships/notesMaster" Target="/ppt/notesMasters/notesMaster1.xml" Id="R1e7ce0f187b745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7a4a47d2c4ba8" /><Relationship Type="http://schemas.openxmlformats.org/officeDocument/2006/relationships/notesMaster" Target="/ppt/notesMasters/notesMaster1.xml" Id="R3d8d4c5406f548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17251091af4298" /><Relationship Type="http://schemas.openxmlformats.org/officeDocument/2006/relationships/notesMaster" Target="/ppt/notesMasters/notesMaster1.xml" Id="R1b3beb4e6dc148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15bf7c87884f3d" /><Relationship Type="http://schemas.openxmlformats.org/officeDocument/2006/relationships/notesMaster" Target="/ppt/notesMasters/notesMaster1.xml" Id="R9838ad0d5915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C:/Users/ridge/Documents/Codex/2026-08-31/c/work/Spheres/README.md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C:/Users/ridge/Documents/Codex/2026-08-31/c/work/Spheres/BIBLE.md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C:/Users/ridge/Documents/Codex/2026-08-31/c/work/Spheres/README.md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  <a:p xmlns:a="http://schemas.openxmlformats.org/drawingml/2006/main">
            <a:r>
              <a:t>- C:/Users/ridge/Documents/Codex/2026-08-31/c/work/Spheres/README.md</a:t>
            </a:r>
          </a:p>
          <a:p xmlns:a="http://schemas.openxmlformats.org/drawingml/2006/main">
            <a:r>
              <a:t>- C:/Users/ridge/Documents/Codex/2026-08-31/c/work/Spheres/spheres-web/src/main.rs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  <a:p xmlns:a="http://schemas.openxmlformats.org/drawingml/2006/main">
            <a:r>
              <a:t>- C:/Users/ridge/Documents/Codex/2026-08-31/c/work/Spheres/spheres-sim/src/districts.rs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C:/Users/ridge/Documents/Codex/2026-08-31/c/work/Spheres/spheres-sim/src/economy.rs</a:t>
            </a:r>
          </a:p>
          <a:p xmlns:a="http://schemas.openxmlformats.org/drawingml/2006/main">
            <a:r>
              <a:t>- C:/Users/ridge/Documents/Codex/2026-08-31/c/work/Spheres/spheres-sim/src/world.rs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C:/Users/ridge/Documents/Codex/2026-08-31/c/work/Spheres/BUGS.md</a:t>
            </a:r>
          </a:p>
          <a:p xmlns:a="http://schemas.openxmlformats.org/drawingml/2006/main">
            <a:r>
              <a:t>- C:/Users/ridge/Documents/Codex/2026-08-31/c/work/Spheres/spheres-sim/src/resources.rs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C:/Users/ridge/Documents/Codex/2026-08-31/c/work/Spheres/spheres-sim/src/statecraft.rs</a:t>
            </a:r>
          </a:p>
          <a:p xmlns:a="http://schemas.openxmlformats.org/drawingml/2006/main">
            <a:r>
              <a:t>- C:/Users/ridge/Documents/Codex/2026-08-31/c/work/Spheres/spheres-sim/src/government.rs</a:t>
            </a:r>
          </a:p>
          <a:p xmlns:a="http://schemas.openxmlformats.org/drawingml/2006/main">
            <a:r>
              <a:t>- C:/Users/ridge/Documents/Codex/2026-08-31/c/work/Spheres/spheres-sim/src/politics.rs</a:t>
            </a:r>
          </a:p>
          <a:p xmlns:a="http://schemas.openxmlformats.org/drawingml/2006/main">
            <a:r>
              <a:t>- C:/Users/ridge/Documents/Codex/2026-08-31/c/work/Spheres/spheres-sim/src/stratagems.rs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C:/Users/ridge/Documents/Codex/2026-08-31/c/work/Spheres/BIBLE.md</a:t>
            </a:r>
          </a:p>
          <a:p xmlns:a="http://schemas.openxmlformats.org/drawingml/2006/main">
            <a:r>
              <a:t>- C:/Users/ridge/Documents/Codex/2026-08-31/c/work/Spheres/spheres-sim/src/commitment.rs</a:t>
            </a:r>
          </a:p>
          <a:p xmlns:a="http://schemas.openxmlformats.org/drawingml/2006/main">
            <a:r>
              <a:t>- C:/Users/ridge/Documents/Codex/2026-08-31/c/work/Spheres/spheres-sim/src/front.rs</a:t>
            </a:r>
          </a:p>
          <a:p xmlns:a="http://schemas.openxmlformats.org/drawingml/2006/main">
            <a:r>
              <a:t>- C:/Users/ridge/Documents/Codex/2026-08-31/c/work/Spheres/spheres-sim/src/theatre.rs</a:t>
            </a:r>
          </a:p>
          <a:p xmlns:a="http://schemas.openxmlformats.org/drawingml/2006/main">
            <a:r>
              <a:t>- C:/Users/ridge/Documents/Codex/2026-08-31/c/work/Spheres/spheres-sim/src/war.rs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C:/Users/ridge/Documents/Codex/2026-08-31/c/work/Spheres/spheres-sim/src/tech/mod.rs</a:t>
            </a:r>
          </a:p>
          <a:p xmlns:a="http://schemas.openxmlformats.org/drawingml/2006/main">
            <a:r>
              <a:t>- C:/Users/ridge/Documents/Codex/2026-08-31/c/work/Spheres/spheres-sim/src/arsenal.rs</a:t>
            </a:r>
          </a:p>
          <a:p xmlns:a="http://schemas.openxmlformats.org/drawingml/2006/main">
            <a:r>
              <a:t>- C:/Users/ridge/Documents/Codex/2026-08-31/c/work/Spheres/spheres-sim/src/resources.rs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C:/Users/ridge/Documents/Codex/2026-08-31/c/work/Spheres/README.md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C:/Users/ridge/Documents/Codex/2026-08-31/c/work/Spheres/spheres-web/ui/index.html</a:t>
            </a:r>
          </a:p>
          <a:p xmlns:a="http://schemas.openxmlformats.org/drawingml/2006/main">
            <a:r>
              <a:t>- C:/Users/ridge/Documents/Codex/2026-08-31/c/work/Spheres/spheres-web/src/main.rs</a:t>
            </a:r>
          </a:p>
          <a:p xmlns:a="http://schemas.openxmlformats.org/drawingml/2006/main">
            <a:r>
              <a:t>- C:/Users/ridge/Documents/Codex/2026-08-31/c/work/Spheres/spheres-cli/src/main.rs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C:/Users/ridge/Documents/Codex/2026-08-31/c/work/Spheres/BUGS.md</a:t>
            </a:r>
          </a:p>
          <a:p xmlns:a="http://schemas.openxmlformats.org/drawingml/2006/main">
            <a:r>
              <a:t>- C:/Users/ridge/Documents/Codex/2026-08-31/c/work/Spheres/README.md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C:/Users/ridge/Documents/Codex/2026-08-31/c/work/Spheres/ROADMAP.md</a:t>
            </a:r>
          </a:p>
          <a:p xmlns:a="http://schemas.openxmlformats.org/drawingml/2006/main">
            <a:r>
              <a:t>- C:/Users/ridge/Documents/Codex/2026-08-31/c/work/Spheres/BUGS.md</a:t>
            </a:r>
          </a:p>
          <a:p xmlns:a="http://schemas.openxmlformats.org/drawingml/2006/main">
            <a:r>
              <a:t>- C:/Users/ridge/Documents/Codex/2026-08-31/c/work/Spheres/BIBLE.md</a:t>
            </a:r>
          </a:p>
          <a:p xmlns:a="http://schemas.openxmlformats.org/drawingml/2006/main">
            <a:r>
              <a:t>- C:/Users/ridge/Documents/Codex/2026-08-31/c/work/Spheres/spheres-sim/src/resources.rs</a:t>
            </a:r>
          </a:p>
          <a:p xmlns:a="http://schemas.openxmlformats.org/drawingml/2006/main">
            <a:r>
              <a:t>- C:/Users/ridge/Documents/Codex/2026-08-31/c/work/Spheres/spheres-sim/src/lib.rs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97f769f32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f756746dc4b0d" /><Relationship Type="http://schemas.openxmlformats.org/officeDocument/2006/relationships/slideLayout" Target="/ppt/slideLayouts/slideLayout1.xml" Id="R9f92b47a3e6042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92b47a3e6042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858eef5024da9" /><Relationship Type="http://schemas.openxmlformats.org/officeDocument/2006/relationships/notesSlide" Target="/ppt/notesSlides/notesSlide1.xml" Id="R892337293b424e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16620e0cb4216" /><Relationship Type="http://schemas.openxmlformats.org/officeDocument/2006/relationships/notesSlide" Target="/ppt/notesSlides/notesSlide2.xml" Id="Rd52ecf611dd1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54d012d2b4234" /><Relationship Type="http://schemas.openxmlformats.org/officeDocument/2006/relationships/notesSlide" Target="/ppt/notesSlides/notesSlide3.xml" Id="R2659da06cf2a46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f3d7569fd4f02" /><Relationship Type="http://schemas.openxmlformats.org/officeDocument/2006/relationships/notesSlide" Target="/ppt/notesSlides/notesSlide4.xml" Id="R619a595a77a6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fbf057ed14f91" /><Relationship Type="http://schemas.openxmlformats.org/officeDocument/2006/relationships/notesSlide" Target="/ppt/notesSlides/notesSlide5.xml" Id="R1b22f8993e814c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76c7f7f004693" /><Relationship Type="http://schemas.openxmlformats.org/officeDocument/2006/relationships/notesSlide" Target="/ppt/notesSlides/notesSlide6.xml" Id="R2738e4d0aa3d4c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f05f795004551" /><Relationship Type="http://schemas.openxmlformats.org/officeDocument/2006/relationships/notesSlide" Target="/ppt/notesSlides/notesSlide7.xml" Id="R852a5a3af51149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4681564b34246" /><Relationship Type="http://schemas.openxmlformats.org/officeDocument/2006/relationships/notesSlide" Target="/ppt/notesSlides/notesSlide8.xml" Id="R48b9d81e1d14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a04419fe3444d" /><Relationship Type="http://schemas.openxmlformats.org/officeDocument/2006/relationships/notesSlide" Target="/ppt/notesSlides/notesSlide9.xml" Id="R340759ba5b514c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42fffcb1340fb" /><Relationship Type="http://schemas.openxmlformats.org/officeDocument/2006/relationships/notesSlide" Target="/ppt/notesSlides/notesSlide10.xml" Id="R0e2fc5b84c3947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390a597f4a83" /><Relationship Type="http://schemas.openxmlformats.org/officeDocument/2006/relationships/notesSlide" Target="/ppt/notesSlides/notesSlide11.xml" Id="R40613b0a17a145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40675696b4282" /><Relationship Type="http://schemas.openxmlformats.org/officeDocument/2006/relationships/notesSlide" Target="/ppt/notesSlides/notesSlide12.xml" Id="R4911d65f47be45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7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FFF50-1478-4E52-A263-A659A438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SYSTEMS INVENTORY · CURRENT WORKING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03788-0F8A-4067-A807-895CC467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SPHERES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336FE-5FB3-4149-AB20-CE5EC568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619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exists — and what to build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252F2-2211-43C6-84A3-7B161C8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623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6CBD4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C6CBD4"/>
                </a:solidFill>
                <a:latin typeface="Aptos"/>
                <a:ea typeface="Aptos"/>
                <a:cs typeface="Aptos"/>
              </a:rPr>
              <a:t>A visual map of the simulation, player-facing systems, open gaps, and the next milestone that connects the whole game.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7848-8392-439C-AC9E-2211B4B4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72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CBD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6CBD4"/>
                </a:solidFill>
                <a:latin typeface="Aptos"/>
                <a:ea typeface="Aptos"/>
                <a:cs typeface="Aptos"/>
              </a:rPr>
              <a:t>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710A5-0687-4BC3-BE50-FC18EB0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95950"/>
            <a:ext cx="615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5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023ED-3C39-41A7-A190-19AB29C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04875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EA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1DD44-982F-468C-B280-9A52CD99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04875"/>
            <a:ext cx="22098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5D9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1366A-5191-451D-92C7-73E4FB28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429000" cy="2114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5D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9872B-8B25-406C-9053-190890C0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5D9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38A3D-24BE-4379-9E65-AD926C10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048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D5D9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2F2B5-B663-43E4-AC30-C05D547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0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A1E0E-2AD3-4949-BA05-5707B8D1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E6339-A46C-4677-986D-6453C836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32AB4-8B54-48CF-972D-9762F9C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43450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C1138-A840-4B76-8DD4-5F771F69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50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1B426-B5A4-482D-9A8D-1536C06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86375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next step is not another isolated system. It is a loop that makes the existing systems depend on one another.</a:t>
            </a:r>
          </a:p>
        </p:txBody>
      </p:sp>
    </p:spTree>
    <p:extLst>
      <p:ext uri="{BB962C8B-B14F-4D97-AF65-F5344CB8AC3E}">
        <p14:creationId xmlns:p14="http://schemas.microsoft.com/office/powerpoint/2010/main" val="764629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2">
            <a:extLst xmlns:a="http://schemas.openxmlformats.org/drawingml/2006/main">
              <a:ext uri="{FF2B5EF4-FFF2-40B4-BE49-F238E27FC236}">
                <a16:creationId xmlns:a16="http://schemas.microsoft.com/office/drawing/2014/main" id="{D708A039-4CDE-406C-849C-EC8E20D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EXECUTIVE SNAPSHOT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53E11AB-2449-4459-9D5D-B6DCEA00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game already has a broad playable backbone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8049C-9ECF-4C74-8624-AAF2B442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1571-A2B4-4F38-AFC1-CC41E24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5D6F5-A217-4D4B-B609-D6300B0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137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37BFA-EFAB-41B5-8BA8-C882ED2C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193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nations at the 1990 start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A9854-7797-4C7A-99EF-2B572FC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328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80EFB-485B-4104-8862-952A474B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193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technologies across 8 domains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89788-C1E8-445F-9218-BA99C794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2AD05-856A-4E95-AD7B-7E6D5CF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193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separate resource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42DA8-3EC0-4F9E-AFD2-64603798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2B52E-B809-4742-B11C-8BBCF5B0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3333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9D3AC-6D2E-48AF-AECA-B4727C36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6600"/>
            <a:ext cx="666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FF"/>
          </a:solidFill>
          <a:ln xmlns:a="http://schemas.openxmlformats.org/drawingml/2006/main" w="0">
            <a:solidFill>
              <a:srgbClr val="0B6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D5E9B-DACD-445B-92B7-95FBB29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World simulation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1B0B4-8815-4F40-B379-C839B6B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90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Deterministic Rust core, daily player clock, monthly system settlement, saves, state hashes, headless runs, and calibration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DB342-66AC-487A-AE8E-DD137CBD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76600"/>
            <a:ext cx="3333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684AB-4E19-41B1-8020-4365A9B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76600"/>
            <a:ext cx="666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6D422-42ED-4EF5-BEF5-0725C7C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480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Player agency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E31A2-B4E2-420C-8FEF-6ACF4CB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Economy, annual budget, research priorities, diplomacy, government, resource deals, procurement, and a nine-rung conflict ladder.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28A2DC-ED06-4DB2-9C25-4C2410B2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3333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A81EB-370D-423C-B653-9C71AAB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666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D13"/>
          </a:solidFill>
          <a:ln xmlns:a="http://schemas.openxmlformats.org/drawingml/2006/main" w="0">
            <a:solidFill>
              <a:srgbClr val="D98D1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388B3-838A-4091-8F97-A224531D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4805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Visible world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E0FBF-A5DC-4472-BFEC-1388419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90950"/>
            <a:ext cx="28956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Full 3D globe, province selection, changing province population, terrain, resources, cities, contracts, fronts, history, and dossiers.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C8F18-294A-4DAD-8659-DF3D410D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633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CAAFC-7693-468A-BB11-3CBFE35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861E8-9E02-44E3-B4FF-B82D8C5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00725"/>
            <a:ext cx="928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foundation is wide enough. The priority now is to make the systems form one repeatable player loop.</a:t>
            </a:r>
          </a:p>
        </p:txBody>
      </p:sp>
    </p:spTree>
    <p:extLst>
      <p:ext uri="{BB962C8B-B14F-4D97-AF65-F5344CB8AC3E}">
        <p14:creationId xmlns:p14="http://schemas.microsoft.com/office/powerpoint/2010/main" val="11889712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3">
            <a:extLst xmlns:a="http://schemas.openxmlformats.org/drawingml/2006/main">
              <a:ext uri="{FF2B5EF4-FFF2-40B4-BE49-F238E27FC236}">
                <a16:creationId xmlns:a16="http://schemas.microsoft.com/office/drawing/2014/main" id="{0E981160-44AA-4933-AEEF-6FD64D7F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A3BBDA7-ABA2-4DF9-BF2C-D40BA0D6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Four layers turn sourced world data into player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4C594-E471-4855-AC79-159FE55D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FAA6A-0C7E-433A-8134-E7B9BC4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24754-E9B2-4220-A1F2-4D20D2E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286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2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BBA03-6492-4E37-B224-23858B5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D93E9-07FE-425B-808D-D8FB136D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SOURCED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E767B-2AB0-4058-8115-D7E12A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Nation JSON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District geography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Terrain + population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USGS resource ledger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EB94-32BA-4B80-9B82-32658D25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19375"/>
            <a:ext cx="2667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31FA8-C182-4462-A1C8-1EE4639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2286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31FB3-6890-4B0C-9D77-9D79CE15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8EC8E-960D-4044-956E-0A91B50E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RUST SIM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C0EBF-8228-4EDA-BE9C-523290D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Economy → Resources → Tech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Arsenal → Statecraft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Stratagems → War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Government → Politics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C84B9-4BA7-49DA-9057-48B61290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2667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E0E11-E904-4136-B717-0E3B4DEC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2286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E9E4D-29F5-46CC-B2F5-616CE141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25EF0-CA7C-4F53-984A-D86B2C0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API + HOST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56246-E9B0-41E9-A27E-6956D40F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0035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Rust web server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Commands + served prices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Save/load endpoints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CLI + headless runs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0BC24-0FCB-4FFB-BD0F-EB17B8C5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2667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451C4-41C7-400E-886F-596D2CE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95450"/>
            <a:ext cx="2286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79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92DE1-01E3-4029-9F93-451D0B8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5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4E554-C04B-4E19-9A09-9BCCFEB2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3D PLAYER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96CEB5-7F39-4F35-98B6-A196F73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190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WebGL globe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Docked arcade panels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Charts + dossiers</a:t>
            </a:r>
          </a:p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Province and conflict views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E1B32-51EC-4E78-AC9F-F83C314B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458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solidFill>
              <a:srgbClr val="1417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22391-923C-411F-B110-F941AB9B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24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DETERMINISTIC TIMELINE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C4893-61DC-4DCD-A8C3-48A88F7E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Commands are applied first; monthly systems run in a fixed order; saves serialize the full world; a state hash proves two runs agree everywhere.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FF6E8-8EB4-4A2F-9458-B73A45F8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5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Current delivery: library + CLI + browser server. Native desktop packaging is not yet the product layer.</a:t>
            </a:r>
          </a:p>
        </p:txBody>
      </p:sp>
    </p:spTree>
    <p:extLst>
      <p:ext uri="{BB962C8B-B14F-4D97-AF65-F5344CB8AC3E}">
        <p14:creationId xmlns:p14="http://schemas.microsoft.com/office/powerpoint/2010/main" val="425866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4">
            <a:extLst xmlns:a="http://schemas.openxmlformats.org/drawingml/2006/main">
              <a:ext uri="{FF2B5EF4-FFF2-40B4-BE49-F238E27FC236}">
                <a16:creationId xmlns:a16="http://schemas.microsoft.com/office/drawing/2014/main" id="{7DF06BFA-0470-44E4-B67E-504B04B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WORLD, MAP, AND TIME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7B82517-8DD3-4A43-A630-1D58B45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globe is now the primary strategic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307C1-619A-4809-A1DE-6D61C0F4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E7D99-D818-442C-ACCC-CD41D4E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314C2-5F7F-47FC-909F-854158F3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676650" cy="3676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3F0"/>
          </a:solidFill>
          <a:ln xmlns:a="http://schemas.openxmlformats.org/drawingml/2006/main" w="28575">
            <a:solidFill>
              <a:srgbClr val="0B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A7898-160E-4488-804E-90E22BD9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38300"/>
            <a:ext cx="2343150" cy="36766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AA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2BAA9-2EC3-48BE-BBE0-D5E7FB71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6766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AAD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612BF-14AB-4260-BACE-6C24C28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67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AA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F8E61-36ED-4E69-A53C-4B322761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D1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681DF-85DF-4E52-8233-8265ABD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CLICK + DRAG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0DDC8-7994-4135-9D0D-28F7A918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ZOOM TO CITIES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D46C2-460B-4E05-9133-DA40A8C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19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9AF1E-D4AB-4BE3-96DD-280F19A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002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Province/state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A0FFE-B307-4725-8E62-C70484B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Click an admin-1 district to lock a dossier with owner, population, terrain, resource holdings, and local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A5026-01EF-4191-B40D-E7FC098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660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F10A8-547B-4667-A9EC-26F8DCD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7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72969-CB71-4432-BB6E-AB0DC084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57475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Living province population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AC290-54EE-4CA6-949C-D6EFF50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1990 district residents evolve with the current owner’s demographic and technology path, including after border transfers.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F73B2-ACD1-456E-BC5C-B2B9D70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81400"/>
            <a:ext cx="660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0209F-BBD8-4E26-BD03-E9B8144A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DB125-BBA2-4937-A8EC-3B1B4C7B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1475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Strategic overlays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B15D4-5554-495C-B226-649E4C4C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671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Political ownership, terrain and relief, resources, contracts, aims, rivers, cities, labels, and war/front information.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B9AA8-58ED-4504-A22F-911C2244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38675"/>
            <a:ext cx="6600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9C22F-9C0D-4788-A943-29BAD7B3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7910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BF088-5515-44A4-9984-98BE8B63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72025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Daily player calendar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39103-EF1C-43E1-BE72-CB15448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244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The displayed date advances day by day; calibrated GDP, research, procurement, war, and politics still settle monthly.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FD674-2F29-446C-A9FE-EC529183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34050"/>
            <a:ext cx="12001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2FB880-BAB1-445B-A3E5-E7D3500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91200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</p:spTree>
    <p:extLst>
      <p:ext uri="{BB962C8B-B14F-4D97-AF65-F5344CB8AC3E}">
        <p14:creationId xmlns:p14="http://schemas.microsoft.com/office/powerpoint/2010/main" val="1374800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kicker-5">
            <a:extLst xmlns:a="http://schemas.openxmlformats.org/drawingml/2006/main">
              <a:ext uri="{FF2B5EF4-FFF2-40B4-BE49-F238E27FC236}">
                <a16:creationId xmlns:a16="http://schemas.microsoft.com/office/drawing/2014/main" id="{6E9025D5-E4DB-409E-8C53-EB01F123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ECONOMY AND ANNUAL BUDGET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8B81358-E1B9-4A0E-B15B-A28A7DB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Economic policy is a full yearly allocation, not a single boost button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4802-4A52-422B-84F9-1DA1AF7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C34E-D7C4-48B6-A5D7-441D154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446C2-6475-4ACF-BCA6-F662F75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3B27A-D2DA-425C-8351-C710736A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FF"/>
          </a:solidFill>
          <a:ln xmlns:a="http://schemas.openxmlformats.org/drawingml/2006/main" w="0">
            <a:solidFill>
              <a:srgbClr val="0B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27882-80BA-4086-9893-626A9E0F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764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Macro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974F-6A4B-4AB0-8736-82D7B1B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289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GDP growth and convergence, inflation, interest rates, taxes, debt, employment, investment, oil terms, sanctions, bubbles, crises, and war drag.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BD655-D1B0-4E2A-823D-C9D1542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38300"/>
            <a:ext cx="9144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F7656-C0CB-4570-882E-34B1C539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95450"/>
            <a:ext cx="762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712D4-8996-44B8-BA5B-DC689F48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C2EF4-674C-425D-9570-3A1389AB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EF9F3-E503-4314-B2A0-0B542820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337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Annual settlement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DFEE-9F6B-4C3E-B4FA-75E829F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76675"/>
            <a:ext cx="289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Ten ministry allocations are voted as one fiscal plan. Policy changes consume political capital and feed multiple downstream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392E0-95DB-4C10-83A4-C18AE92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95675"/>
            <a:ext cx="9144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A5743-7844-4BDB-9EEE-F86099E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52825"/>
            <a:ext cx="762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3C0F5-7F21-4FA8-9DC0-FCC054A9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solidFill>
              <a:srgbClr val="1417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06778-0C03-4E67-9B2F-A8F892FB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PLAYER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31301-5446-4290-B17C-005F79CD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Revenue → allocations → deficit/debt → growth and political consequences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C7255-3D67-49E0-992E-22A4B350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THE 10 BUDGET DIALS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16A86-01D9-4994-9B2E-3BE8A30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335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DD794-3154-4AE4-B363-2AB3E4D9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5FA38C-4B82-493B-8922-1F8FE83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574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health + population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DDFD5-4D8D-4CF5-943C-9469711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335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C3A6B-EB05-405B-9F0C-C4754EC5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38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Education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4DC2C-66CC-4DA3-A267-89A7E86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skills + research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41A74-2D70-486A-87DF-4720FFA5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765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1EDAC-5910-4B9B-B0F1-7FF24BD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Families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1B8AFD-E29F-4C14-8EB5-72044763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demography + stability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47DC1-4FEF-4DFB-B060-A4BA127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765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DE1CF4-67C5-45E0-8EED-9A73FEF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81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Pensions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3BDD18-081B-4A3C-85D7-D622D7B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0037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stability + fiscal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1BB36-FDC3-4C0B-9891-1012C701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01736-084D-4DF9-A9F4-B759C9A6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448091-A16C-45F6-864A-6C678C8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433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investment efficiency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235B1-529E-47EA-AC23-4F79544E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194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EBA56F-D812-4DCC-948F-81D1FF88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24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Industry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164167-71EA-4BCC-8612-67E610D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433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productive capacity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AFDD06-F5A4-46B4-87A7-2A8E02F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CE3CC2-03C1-4FEA-9F0C-6D13DA69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Science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4A9F01-4FFD-4205-9418-7452B0B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8627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research output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3366A3-7E58-440D-B2F6-AD1F7303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6242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63DD5-A564-48E9-B2B1-6A9F0D95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267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Defense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E2ECAA-D0FD-40CB-8909-EDE3652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8627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force + procurement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36D11D-BF98-4C1C-953E-2B4EA38F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FF13B5-3EC9-4378-81A4-3E15422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10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9B959A-5705-458C-B9D5-4FD3683A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292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regime resilience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12DD27-EA2D-4D22-9234-B3A0E72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05375"/>
            <a:ext cx="3143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23B9D4-7DA1-4A69-9FB4-14445FDE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010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Diplomacy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AF42BB-2347-4A75-B106-A55DCB9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229225"/>
            <a:ext cx="2781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statecraft reach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F867DA-3B1F-4B2A-8F1A-B21D54B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102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The system exists; the next design task is making tradeoffs immediately legible and fun at arcade speed.</a:t>
            </a:r>
          </a:p>
        </p:txBody>
      </p:sp>
    </p:spTree>
    <p:extLst>
      <p:ext uri="{BB962C8B-B14F-4D97-AF65-F5344CB8AC3E}">
        <p14:creationId xmlns:p14="http://schemas.microsoft.com/office/powerpoint/2010/main" val="1638647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6">
            <a:extLst xmlns:a="http://schemas.openxmlformats.org/drawingml/2006/main">
              <a:ext uri="{FF2B5EF4-FFF2-40B4-BE49-F238E27FC236}">
                <a16:creationId xmlns:a16="http://schemas.microsoft.com/office/drawing/2014/main" id="{3D6134E0-354C-429D-93D4-A643139A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RESOURCE SECURITY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2312F62-81BF-4D85-8FCA-373DF876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Resources and trade connect provinces, production, diplomacy, and war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99449-4257-4D3F-8062-E5BDA8B8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270B-BAAF-438F-BE65-96107866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26AEF-DEC8-4A65-8C96-82190D48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12 SEPARATE 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E1FE4-E5EE-4A6D-BA45-8AD7A8EA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97DB2-A20A-46CC-8CE6-F3F48870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Oil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7B201-75D6-4787-A30C-D475F5FA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DA10D-AB78-4689-BE72-5ADCA90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Gas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91C4C-C21A-4743-90FC-A87AF83D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3D05E-C3E7-46CE-8B5B-EEE152E9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Coal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0A2E6-D6E3-4962-918F-F5C5EE1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3D7EE-34FC-4D8B-8455-28B3F3E2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Iron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379A7-16B2-422E-A8AA-22AEC06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19277-FD74-44F1-BF3B-08E2EB39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2D4EA-6D33-4C66-906F-FFC5AF9D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8478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49847-6DC6-4416-9F4E-B54CC72B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335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Bauxite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AD418-2339-444F-8BCC-2E15A79C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8CB4E-C73F-4DFA-82F9-8D75083B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Cobalt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C442A-F120-44DA-8833-B848DFB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91B2C-FED5-457E-922E-206256F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Gold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5D7BF-F66A-491C-8E85-612040D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E6A48-A26F-4853-9C27-9A8A2EC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Phosphate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469B4-E6BF-442E-BE00-FD4119B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44CCE-77F9-439B-994F-B5DBDA96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Platinum group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9AD64-BD7B-4003-A42A-49A04807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D1096-374C-4676-B1BC-C0557198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Rare earths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1ADBB-7E15-49B9-ADC6-F6228981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05050"/>
            <a:ext cx="1657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5065C-4046-4CEE-A2E2-5080D65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90775"/>
            <a:ext cx="1504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Uranium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2AF1B-6F04-4BA9-B0E9-C3D64E4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HAVE · STOCK · NEED · action cover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2ECA2B-4098-4171-87F5-E925BC7F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24288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E103A-D50A-4131-8FBD-6E5DB88A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07045C-FACD-4042-B4D4-0FBAA90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NEED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C05EB-7FBD-4430-A267-9C801C8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 build, research project, or procurement line asks for a commodity.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87D6FA-A32A-4445-A5E7-B28C6FA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190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9D2E4-B544-4704-A4BB-65F1C40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81375"/>
            <a:ext cx="24288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51E237-1CBC-4D21-BDBC-A42BEBFD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528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FA0D7C-FEEC-4482-84F1-639A0AAC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TRADE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D3BEF2-3696-4828-BF95-59F8297B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434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Offer money, resources, land, or a bundle for 12/36/60/120 months.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0EDE17-1CFF-42D2-B356-F4DBAD9F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190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167F1-A711-4CB9-98C8-2F3E6126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4288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B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0DB417-1B89-4B28-89F5-D6DF12CD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528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B5B42B-1315-473E-8264-B6BB2528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896153-100D-487B-8D4C-BAF7AA94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434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Accept, counter, refuse, deliver, breach, and accumulate leverage/dependency.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DF5285-E990-4008-9F53-A805C60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38600"/>
            <a:ext cx="1905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3821BF-397A-40BD-81EA-047B0AAD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81375"/>
            <a:ext cx="242887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EB4870-A52F-415B-8168-C7AD41C4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528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B11846-00DC-421B-BCF6-2DE23CD5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43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TAKE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94AAB6-925B-48E6-B004-9E0CE7A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3434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Only after genuine refusals: attach a district + commodity aim to a conflict.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4BC71F-C7DB-4914-9108-446EA0F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123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5FB0D-8B3D-4BA2-8842-972E2FF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971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687F09-9F65-453A-B183-A8F95A2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Open: MINE/development gameplay, consumers for six newer lines, and tuning the refusal chain so last-resort war is rare but reachable.</a:t>
            </a:r>
          </a:p>
        </p:txBody>
      </p:sp>
    </p:spTree>
    <p:extLst>
      <p:ext uri="{BB962C8B-B14F-4D97-AF65-F5344CB8AC3E}">
        <p14:creationId xmlns:p14="http://schemas.microsoft.com/office/powerpoint/2010/main" val="1855094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-7">
            <a:extLst xmlns:a="http://schemas.openxmlformats.org/drawingml/2006/main">
              <a:ext uri="{FF2B5EF4-FFF2-40B4-BE49-F238E27FC236}">
                <a16:creationId xmlns:a16="http://schemas.microsoft.com/office/drawing/2014/main" id="{1E6B912D-DECF-47F9-B62A-A5BD867C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STATECRAFT AND GOVERNMENT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C346605-3A12-44B1-94B1-6F42E133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Political capital ties diplomacy and domestic authority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303FF-4A1D-4F62-827B-F33E6C0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754D3-9566-4B7D-AD95-ACDDD1C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CD02C-008E-4ED3-AB67-784191FA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33525"/>
            <a:ext cx="11163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solidFill>
              <a:srgbClr val="1417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B33D0-0752-462F-993E-C5AE2734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POLITICAL CAPITAL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BE6DC-69AC-4742-86F8-2A2605F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9545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3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major action has a served price. Governments can run out of authority, while reneging remains possible but reputationally ruinous.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79B06-4D0C-4F70-992C-5B3D4CC2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12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EXTERNAL POWER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3E81B-4934-4385-B7C6-90D1078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03332-60DC-4051-83ED-4A55B475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432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Improve relations · sanctions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5E907-19EA-4DEB-AC4B-F58E493D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28975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7CDB2-757D-4CC1-B2D5-13C084D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B1AAF-DA21-429F-80EE-6955437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09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Mutual-defense pacts · guarantees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13230-5A4E-4D2D-8A6F-D69D9195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695700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AD4FE-2571-400E-A732-2268E55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70AEA-3FEB-4C03-AED6-A5827F8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766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Aid and patronage transfers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DE545-380C-49B2-9DA3-075ED6B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162425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58599-F193-46C8-A3C4-80C20E1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84494-9E83-4FE8-A3A1-16AFD6F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43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Trade depth · dependency · leverage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27649-5ADC-4E74-9F2F-67469215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29150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15069-D08A-467F-8C70-0F4AF27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83B29-BFAC-4DC4-881B-7F961963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810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Covert action and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A64CF-008E-4061-BE48-9A95DEA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95875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31480E-1652-444F-8D4C-68D1919A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807D7-AC50-4BE7-9E78-7179F0E7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768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Access and basing for theatres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F0B22-B63A-43AC-8A6D-A23C704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62600"/>
            <a:ext cx="444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CBE86-910B-4975-87B2-62B4491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812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DOMESTIC POWER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410AE-B8F4-4CA9-A46C-F16D388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527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9301E-89D9-4FCF-A57C-857B3EBD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Parties, parliaments, cabinets, and coalitions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578A4-0B32-4231-A410-5CAA84A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289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C1A82-0758-48B2-AAD2-10864AB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4194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67DC93-C266-4704-8596-CE5B38E0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Elections and early elections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A610D-724C-47ED-B9EF-166FE6E9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104099-17DD-4D7C-B253-09FD9864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86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0508B6-A51F-4E1B-AAA9-467DE2EF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766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Regimes and institutional pillars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181B22-67DD-4A82-AE02-AADDF9E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C9226-C9FE-4762-9A8C-C929343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3529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CA128F-8DFE-4872-9856-4CA46E07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Stability, separatism, and collapse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A7CAC5-FAF9-4683-8545-25393A50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2915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790F24-E879-4163-A5A4-77C5BAA7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819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F1C927-2640-4490-910D-1FA333C3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0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Policy pricing and cabinet constraints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3DBD4B-CEEA-496E-B570-44194C7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CCBBCD-60D2-4D42-9073-FC111B9D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2863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D013E-931B-4FAE-866B-D7F7F896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768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Stratagem decision cards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25849B-1C79-42D7-B7B0-45D03B0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EF1AA8-7068-429B-A301-2E631F3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905500"/>
            <a:ext cx="1190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CB3B79-A7D6-4A68-9963-091D5D6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962650"/>
            <a:ext cx="1038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</p:spTree>
    <p:extLst>
      <p:ext uri="{BB962C8B-B14F-4D97-AF65-F5344CB8AC3E}">
        <p14:creationId xmlns:p14="http://schemas.microsoft.com/office/powerpoint/2010/main" val="18052671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8">
            <a:extLst xmlns:a="http://schemas.openxmlformats.org/drawingml/2006/main">
              <a:ext uri="{FF2B5EF4-FFF2-40B4-BE49-F238E27FC236}">
                <a16:creationId xmlns:a16="http://schemas.microsoft.com/office/drawing/2014/main" id="{E12B314F-C598-4D7C-935A-0FB3028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CONFLICT AND WAR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89D29978-CB2A-4C5A-AB90-F80FC2A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War is an escalation decision before it becomes an invasion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59EBD-26C4-4C3F-940A-6BC106FA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167B9-1216-4402-9FC8-122583B9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3F4FA-D4A7-4049-80C9-950A0B84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F2E5F-5E8F-48FC-B65A-D0D31F06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72B07-5AE8-4E82-BD1C-C7EDF91E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Rhetoric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0DA34-9F86-496D-A3C9-5A83BE0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9CC11-E35B-4C3E-95B3-E89FFD6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6932E-D474-4911-A100-BBC7CA82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Sanctions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173AB-B4E4-4324-BF95-87BC406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B3933-E7F2-45F8-AE05-CF07283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F16CC-874C-465E-8167-61D4915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Proxy arms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65FEB-0F88-4050-B8CC-C903E430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22AAE-A6CF-46D1-9C98-F1EA192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C42C9-17D0-4068-81EB-19DD2A8F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Advisers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58DE0-166D-4989-9BD5-1975973C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7017E-65B3-478C-8F30-54B5D68E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CE6FE-D332-4DB0-B2E1-735FE39E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Deniable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F002F-2342-4DCE-9900-05AF00B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C7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FC865-4167-427C-8DCD-CD702E64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BDE57-E3D9-48B3-B6D2-CBF5838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Standoff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4941E-50C0-4EDC-AC0F-929D150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C7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740AA-D9C8-4498-A715-CA19825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6A91D-EB6E-428A-94A2-D8C1964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Limited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471CF-0548-42A4-8ACE-09BBBF92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C7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460F6-5B40-4843-BE0B-64BC1EB4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C13EF0-F597-4D3B-80B3-0A9FFD5F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8E639-3E3B-4C6F-8E08-8A253D7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647825"/>
            <a:ext cx="10668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C7"/>
          </a:solidFill>
          <a:ln xmlns:a="http://schemas.openxmlformats.org/drawingml/2006/main" w="19050">
            <a:solidFill>
              <a:srgbClr val="D98D1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AE3D5-2C56-454F-8F8E-484FA95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7811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87DE6E-6225-4B2C-A36E-BE42313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431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Occupation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53C94E-1AC6-468F-A0E9-56F1E57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92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QUARREL / PRESSURE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97C58-44C2-40E6-935B-D3A840E9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670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SHOOTING WAR → TERRITORY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D5A61-D232-4524-A2FB-E5016DDC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2524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D2B84-A8EF-4F4A-AB17-134E6203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43275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FF"/>
          </a:solidFill>
          <a:ln xmlns:a="http://schemas.openxmlformats.org/drawingml/2006/main" w="0">
            <a:solidFill>
              <a:srgbClr val="0B6B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A9F693-06C6-4235-9E0B-B607192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147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Commitment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024D8-D3AD-4F21-BA98-EEE79F38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Each participant chooses its own rung, objective, rules of engagement, ceiling, and resolve red line.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FB2430-F64E-4E4C-A525-A049AE94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43275"/>
            <a:ext cx="2524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E5D551-5018-4372-975B-A260BA6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43275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solidFill>
              <a:srgbClr val="11121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A00FBA-1812-4A96-ABD2-75BB41E0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147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Access + reach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404738-8217-44FA-9EB2-654610C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57625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Theatres, sustaining bases, permissions, deployable fractions, and small-state leverage determine what can arrive.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5A291C-0724-4D2D-8E86-756CCCC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2524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FF390F-0E56-4429-8E72-C973D28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D13"/>
          </a:solidFill>
          <a:ln xmlns:a="http://schemas.openxmlformats.org/drawingml/2006/main" w="0">
            <a:solidFill>
              <a:srgbClr val="D98D1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196507-624D-49DD-B4A2-0580C73B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147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Operational front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2F025D-600D-4898-A6E6-1091F5C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57625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District terrain, rivers, population, force packages, magazines, tempo, exposure, and encirclement shape combat.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08C7F0-3CBB-42DA-9D9C-B89BAE58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43275"/>
            <a:ext cx="2524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9638B8-6590-4DAF-ABAA-84722ABA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43275"/>
            <a:ext cx="6667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31458B-02A3-4D7B-A88A-08135C20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14725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Settlement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27F416-A449-4F47-900C-C7C9BC95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57625"/>
            <a:ext cx="20859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Resolve and exhaustion lead to ceasefires, concessions, subjugation, annexation, or resource-targeted district transfer.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A20D78-BD68-4F4C-A45B-79AA01FB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Nuclear taboo prevents direct wars between nuclear powers; escalation and interventions can still reshape third-party conflicts.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876F58-7842-4150-8843-E7C2A02C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62625"/>
            <a:ext cx="12001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E9E30D-C979-4642-B0EF-59E0B36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19775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</p:spTree>
    <p:extLst>
      <p:ext uri="{BB962C8B-B14F-4D97-AF65-F5344CB8AC3E}">
        <p14:creationId xmlns:p14="http://schemas.microsoft.com/office/powerpoint/2010/main" val="228734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-9">
            <a:extLst xmlns:a="http://schemas.openxmlformats.org/drawingml/2006/main">
              <a:ext uri="{FF2B5EF4-FFF2-40B4-BE49-F238E27FC236}">
                <a16:creationId xmlns:a16="http://schemas.microsoft.com/office/drawing/2014/main" id="{7EED6620-190E-40C4-AF63-FB7BF81F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TECHNOLOGY AND PROCUREMENT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103E8D4-E098-47FA-83AE-6CAE365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Technology creates long-term capability; the arsenal turns it into force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FA30F-CB95-4A6E-A8F9-652E17E3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BF27F-BF28-402F-B710-3271E10D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FBBCA-0447-467F-820C-8F3D0DE5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8 RESEARCH DOMAINS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D47BB-9EE0-4A23-9C7B-91C66275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6DEBE-416F-4AE2-B05F-2646DC0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Computing &amp; software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71108-A859-4046-8470-E28C6F0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5DFFA-986B-4203-B482-13B9874B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Communications &amp; 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08CE8-B2FD-4159-9276-6B5B544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10BC9-012B-4DCD-A79B-FB560135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Energy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2ABBB-60B5-45EC-96EF-AAAFB5F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A9080-65F2-45D7-BA5A-E3F8C698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Materials &amp; 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31FF5-DE5B-45AA-84BE-8F9AE40F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B64D8-C782-4D1C-9AD3-AE0F609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Aerospace &amp; military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D12AF-0A01-4BC7-A0EF-9E5C18AD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499EF-E66D-47D9-AD1C-500A0C9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Biotech &amp; medicine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2CE4A-EC6C-47F3-A75C-4CCC497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4B982-58AE-44E6-86A5-0444A89F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8137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A2C21-5320-4820-A5DB-F68CC482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956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6710B-8AAF-4FD1-AF2E-83DB305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81375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Agriculture &amp;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13FF8-8013-46F9-BE5E-8F163BA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61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Research is funded by output, directed by a national priority and named focus, constrained by prerequisites and year floors, and accelerated by diffusion from open trade partners.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0D9F97-B4CE-4409-B88A-F868FDF8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328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AA830-A49E-4E4B-8C83-53B7B6A7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864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technology entries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99782-C5EA-4F32-B0B5-C52C6C33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292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40y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E125A-7E9F-4117-8FF3-7F346FB1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864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hardware service life can span decades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3CDD0-B7BE-4E0C-81F3-43C73DE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50482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11E13-2AFD-4D7B-9C41-46FA90A6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752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CAPABILITY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4B6E9-8605-4E8D-B136-CACA69C5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381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6F869-C9B6-4B44-984D-BBCEA20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52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88DA68-449B-4075-8494-04F38530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F44B83-D1B7-48B2-9ADB-49E1BBF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discover and adopt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DA5AC-514F-4105-969A-CCF9E855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1800"/>
            <a:ext cx="4381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6A2684-5C74-42D8-8C2F-71D630B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33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66140-24E3-409F-85EE-B42E188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Requirement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7A9DA-8651-499E-82EE-217B7573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76600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tech + budget + resource cover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06CD51-87CA-4C2C-B6AB-167F609C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52850"/>
            <a:ext cx="4381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07EE2B-9C5F-404E-A922-A40595B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147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ED984A-D0E6-4A5E-921D-D46B15B4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481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0F3DE9-E061-4822-B669-4254FAB3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57650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orders mature over years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A67708-090F-45DF-99B9-1B21104C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4381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770BD6-A3D8-417F-92D6-B42D244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958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F29A12-7758-473B-8119-610D3C0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Force structure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213C4-2C6B-438D-AE01-BF85361C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38700"/>
            <a:ext cx="333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quality, reach, readiness, magazines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04CE23-BE21-4B72-8488-66B2617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9775"/>
            <a:ext cx="1123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EBE243-B095-4B40-8339-70DF6863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76925"/>
            <a:ext cx="971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621962-1D30-41AF-861A-93DD3305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7816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Open: add the remaining uranium / rare-earth / battery / hydrogen consumers and expose blocked requirements cleanly in the UI.</a:t>
            </a:r>
          </a:p>
        </p:txBody>
      </p:sp>
    </p:spTree>
    <p:extLst>
      <p:ext uri="{BB962C8B-B14F-4D97-AF65-F5344CB8AC3E}">
        <p14:creationId xmlns:p14="http://schemas.microsoft.com/office/powerpoint/2010/main" val="905099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10">
            <a:extLst xmlns:a="http://schemas.openxmlformats.org/drawingml/2006/main">
              <a:ext uri="{FF2B5EF4-FFF2-40B4-BE49-F238E27FC236}">
                <a16:creationId xmlns:a16="http://schemas.microsoft.com/office/drawing/2014/main" id="{649DCD27-DC80-46C5-B1D5-27850A4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PLAYER EXPERIENCE AND DELIVERY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B55DE1FD-1C35-4553-9680-677EA63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interface is moving toward arcade-style progressive disclosure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8FBD-6D4D-4DAD-B621-AF97155B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D0A5E-0F32-4E29-9B43-2A159515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150B9-491D-48C4-9802-9D906F38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D721A-25E4-4DEB-AB85-EC695E3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DC5F7-9CF0-40CE-AD80-70F287E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04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24301-A28A-4025-A731-6B64AE5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64A2B-3919-49F8-AA07-00D33DDF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Base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5FB9D-C3B1-4433-9EF7-C8DF5BE1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3D globe + date + only high-value readouts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61599-F00E-4C8F-AD6E-CC0456D6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3A1EE-80A4-469E-A315-1B589DC0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28825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278404-E9A9-4E7F-A331-7359D8CB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0C2A9-E593-4124-B44B-9AF28E8D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Context on demand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70F3C-8D9A-4BB4-9F20-B1126815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384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Province dossier, nation sheet, conflicts, tech, economy, trade, 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2EE01-C458-4C73-A21D-FF72363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24465-740E-4CE1-88D3-A2C788AA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D7399-312C-420F-B632-4B25AD9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C7D59-5F21-459F-81FD-B62EC182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Arcade interaction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ABF0C-9171-4F9F-B55B-6996232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Large cards, resource chips, served costs, clear blocked reasons, folded advanced detail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508C0-4A45-42CF-B8D8-9272109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62325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0EE79-2C40-4507-9EA3-C09CFD7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19475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4282E-2E2E-4A77-AB76-1C2B3D07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B8C57-E6CE-49FE-8869-F0693141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1B2DF-A237-4FC5-9CCF-998AFB37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29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JSON save/load, deterministic seeds, replayable headless timeline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6F9983-5E3A-43BC-86B7-C3171734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57650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3D21E-A8A8-495A-B55A-3E207A3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14800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C2B34-5940-4D06-90DF-126F330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0575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1C58B-267F-43A7-96D2-449B5A07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Delivery today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3B1F3E-BF2E-4144-A35E-B6BA2B8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Rust library + CLI + localhost browser server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E52FBB-1050-430A-982A-BF1AC13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52975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D9955B-BA4F-48D8-9579-6140EDCA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0125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DEVELOPER-READY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B5CD2E-F9DF-4320-BF37-E1CE66E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1116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3F7BCB-CAE9-41CA-A953-C7BB57E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Standalone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03375F-ADA2-4856-9FD9-860F8E62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19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Desktop wrapper, installer, settings, save slots, autosave, crash recovery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96C77B-82CD-4274-B0F0-7E00053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48300"/>
            <a:ext cx="18859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5E6E8"/>
          </a:solidFill>
          <a:ln xmlns:a="http://schemas.openxmlformats.org/drawingml/2006/main" w="9525">
            <a:solidFill>
              <a:srgbClr val="6266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F9A0A-CF06-4CE7-84E1-42349BA1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05450"/>
            <a:ext cx="1733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E9205E-B0A3-4EF1-B388-691DA1C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11163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solidFill>
              <a:srgbClr val="14171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A0E3F8-4825-4C5E-ACF7-19EFDE33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864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PRODUCT RULING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C0286-9033-4F2B-97E9-E7DF406B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67425"/>
            <a:ext cx="914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 the core loop first; package it as a standalone app immediately after the loop is worth replaying.</a:t>
            </a:r>
          </a:p>
        </p:txBody>
      </p:sp>
    </p:spTree>
    <p:extLst>
      <p:ext uri="{BB962C8B-B14F-4D97-AF65-F5344CB8AC3E}">
        <p14:creationId xmlns:p14="http://schemas.microsoft.com/office/powerpoint/2010/main" val="14854033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-11">
            <a:extLst xmlns:a="http://schemas.openxmlformats.org/drawingml/2006/main">
              <a:ext uri="{FF2B5EF4-FFF2-40B4-BE49-F238E27FC236}">
                <a16:creationId xmlns:a16="http://schemas.microsoft.com/office/drawing/2014/main" id="{AED30567-EB35-4467-ADE5-B1F27EAC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READINESS MATRIX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B89535A-91CB-429E-87A0-3EC00CAB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Most foundations are playable; the missing work is concentrated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55900-3C56-4D78-A925-36AE906D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7B67A-55F7-49F7-B1D2-B934334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91BBB-0C23-4E69-B56B-10EA3022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6E20C-9725-4005-8505-BA03018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45732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9924F-F01D-462C-BF89-EAA2C87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45732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NEXT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C562D-3919-482A-8D9F-80BB3844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05E4A-1017-4C6C-8029-CE26FD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World map + provinces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C486A-16FC-41DD-8022-4CDDF560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C719C-AD2C-461E-982E-810E3E37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47850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F9263-BD4C-438B-9364-182394A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19275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Globe, dossiers, terrain, population, city/resource overlays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21847-8A28-44B1-AC72-773F5154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022B5-5F96-48EA-94B5-2B44DAD6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Economy + annual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82D76-F0E4-4611-9E36-45D65EE1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33625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2401-C000-4900-B499-60D165B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90775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F8683-41E0-42A9-AF3A-86654B8D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62200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Complete model and 10 levers; needs sharper arcade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02E92-28F8-427A-9842-B5F4908A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670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4DA10-2C52-441C-8C17-2E116D5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Resources + stockpiles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F5D14-5FE3-4BCE-B1F5-E0251089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76550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76B3B-E14F-4025-BC3B-F96412B2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33700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D58E6-C495-425A-830E-A990C7AE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05125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12 lines and action gates; development and six consumers remain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1618D-5418-4519-9EAA-3B2F0C8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C523F-7A8E-47EA-8CFD-30A2A545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Negotiated trade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09CB7-CBD1-4D8A-964E-7E40F88A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19475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B278C-8E39-4763-86F2-8ECDBFC7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476625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15040-078E-4D74-A6A3-6A55AF9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48050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Bundles/contracts work; market loop and war reachability need tuning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76554F-0A50-4BF7-A526-D6E59DA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BB2E5-BA0A-4CBF-B41E-3082548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Statecraft + government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BB47B-D4F5-4C1C-B01B-C54188FA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62400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C90405-5782-4FF3-8F94-19811F47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19550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22652-E800-43F1-A8CB-4098567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90975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PC-priced external and domestic action systems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474583-5A0A-4C51-98B0-5BC0E5C9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38F27-F802-42DC-B0C5-48A47B58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434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Conflict + war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6218A-95A1-47BB-BFB4-C74DE83B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05325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FE6"/>
          </a:solidFill>
          <a:ln xmlns:a="http://schemas.openxmlformats.org/drawingml/2006/main" w="9525">
            <a:solidFill>
              <a:srgbClr val="18794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2B852-1883-43B2-8BAA-7517093C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562475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8794E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8794E"/>
                </a:solidFill>
                <a:latin typeface="Aptos"/>
                <a:ea typeface="Aptos"/>
                <a:cs typeface="Aptos"/>
              </a:rPr>
              <a:t>PLAYABLE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BE0CBB-2693-46DB-BA1B-B68C3BB2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33900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Ladder, access, fronts, terrain, settlement; calibration debt open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FA858-2FF5-4E3B-9D83-E94E4850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18A55A-219F-4988-AF52-37B0A025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Technology + arsenal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09ACC-5BFA-407F-9A6F-D99125BE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48250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63DA8A-F5F4-4303-80FE-5E946878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105400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INTEGRATED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860C3F-20F2-4CFC-8870-1696B7F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76825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328-entry tree and procurement; more resource gates remain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FBAC90-FF5E-4577-AA43-7B0C109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5A3C38-AE66-4052-B683-06997234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2927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Standalone delivery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2330F-A7DA-4B8D-AEDC-FBF42994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591175"/>
            <a:ext cx="15716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5E6E8"/>
          </a:solidFill>
          <a:ln xmlns:a="http://schemas.openxmlformats.org/drawingml/2006/main" w="9525">
            <a:solidFill>
              <a:srgbClr val="6266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6625C-CBD4-4D9E-9B7D-3592F55C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648325"/>
            <a:ext cx="14192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190888-813F-4101-BE2B-F9102EFE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619750"/>
            <a:ext cx="652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Core is native Rust; desktop product packaging is not built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B8A756-3408-40F8-82C2-EB661C26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63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9525">
            <a:solidFill>
              <a:srgbClr val="0B6B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6DEC40-3375-41C9-99C2-9F4B250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143625"/>
            <a:ext cx="10839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CONCENTRATION OF WORK: resource development + consumers + market tuning + campaign feedback</a:t>
            </a:r>
          </a:p>
        </p:txBody>
      </p:sp>
    </p:spTree>
    <p:extLst>
      <p:ext uri="{BB962C8B-B14F-4D97-AF65-F5344CB8AC3E}">
        <p14:creationId xmlns:p14="http://schemas.microsoft.com/office/powerpoint/2010/main" val="1642605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12">
            <a:extLst xmlns:a="http://schemas.openxmlformats.org/drawingml/2006/main">
              <a:ext uri="{FF2B5EF4-FFF2-40B4-BE49-F238E27FC236}">
                <a16:creationId xmlns:a16="http://schemas.microsoft.com/office/drawing/2014/main" id="{94E5B129-347B-416D-AE79-A8DE11D3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8A0AA39-C541-4ADA-851E-9323359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Next milestone: complete the resource-security player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D7445-92AB-4A8F-8BB2-3904CF52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1121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E0859-842C-4114-8ABE-E7545C57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564A2-8121-4269-8F4B-08220557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11163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FF"/>
          </a:solidFill>
          <a:ln xmlns:a="http://schemas.openxmlformats.org/drawingml/2006/main" w="0">
            <a:solidFill>
              <a:srgbClr val="0B6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D5962-8DC7-402F-9039-E06184CE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THIS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C9B56-F18D-4694-966D-5C6E47A9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38300"/>
            <a:ext cx="881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It connects the province map → resources → economy and budget → trade and statecraft → procurement → war, using systems that already exist.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2A3F5-A1D8-4A9E-9ABA-D7D2557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37D78-7B6E-4C4E-B3BF-D55E2182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B8007-9650-4515-9CE5-F3502EFD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9567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Build the MINE card: district project, money/PC cost, lead time, capacity, yield, and ownership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FFC6C-2048-4B73-8AD8-382D106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BF0EB-FED6-4A74-99A3-7B1E17A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B6B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6BFF"/>
                </a:solidFill>
                <a:latin typeface="Aptos"/>
                <a:ea typeface="Aptos"/>
                <a:cs typeface="Aptos"/>
              </a:rPr>
              <a:t>The map becomes economically actionable.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0297B-23CC-4398-A1D2-F3160775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472EE-4AB1-4019-9F67-44F0C468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76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CONSUME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430F6-A3D8-4A2C-A4BC-5DC583A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9567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Add honest requirements for uranium, rare earths, batteries, hydrogen, magnets, reactors, and the bomb.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87395-1F04-4129-B0EF-A1AF101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6247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ECF59-C0ED-44FB-BA99-A8179905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Stockpiles create meaningful choices without ambient GDP punishment.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329A-42DA-4D1C-8312-659EFD13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C01D5-421A-43B7-9AFA-C62D0E13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76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TRADE + TUNE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4239E-B648-45D4-9D61-9D8A84D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Complete AI offers/counters, market temperature, sanctions/rationing, refusal memory, and last-resort-war rates.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56961-3E37-4524-95F5-C09EC8D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6247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85A58-55B7-44D7-96BA-F63A5202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player can solve scarcity without war — until the world closes every door.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E423F-E2D4-45C3-8085-74D169D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67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D688A-9CC6-4B5D-A2A1-715561FB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76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REWARD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90D03-64CF-4B76-92DE-98F0F212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95675"/>
            <a:ext cx="238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666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2666D"/>
                </a:solidFill>
                <a:latin typeface="Aptos"/>
                <a:ea typeface="Aptos"/>
                <a:cs typeface="Aptos"/>
              </a:rPr>
              <a:t>Add yearly resource-security scorecards, alerts, goals, and event-style payoffs for resilient supply chains.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56969-90CD-4E25-939D-15D263C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6247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6808E-333E-4DE4-B6A7-3B84DB89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625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21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214"/>
                </a:solidFill>
                <a:latin typeface="Aptos"/>
                <a:ea typeface="Aptos"/>
                <a:cs typeface="Aptos"/>
              </a:rPr>
              <a:t>The loop has readable wins, losses, and replay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67A8C-2F62-4896-9141-72CC1E9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7391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solidFill>
              <a:srgbClr val="1417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5BAEC-1D80-4BEF-8EFA-509FCE8E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EAA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7EAAFF"/>
                </a:solidFill>
                <a:latin typeface="Aptos"/>
                <a:ea typeface="Aptos"/>
                <a:cs typeface="Aptos"/>
              </a:rPr>
              <a:t>DEFER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EF2D96-0C7E-4242-A242-6CDCCFFA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905500"/>
            <a:ext cx="611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New commodity types until the 12-line loop is fun and calibrated.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743A4-7C97-444A-8E19-B37F26BB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810250"/>
            <a:ext cx="35528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C7"/>
          </a:solidFill>
          <a:ln xmlns:a="http://schemas.openxmlformats.org/drawingml/2006/main" w="9525">
            <a:solidFill>
              <a:srgbClr val="D98D1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773F18-3B0E-42FD-9EF6-443D12B8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24550"/>
            <a:ext cx="3228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98D13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D98D13"/>
                </a:solidFill>
                <a:latin typeface="Aptos"/>
                <a:ea typeface="Aptos"/>
                <a:cs typeface="Aptos"/>
              </a:rPr>
              <a:t>THEN: standalone desktop packaging</a:t>
            </a:r>
          </a:p>
        </p:txBody>
      </p:sp>
    </p:spTree>
    <p:extLst>
      <p:ext uri="{BB962C8B-B14F-4D97-AF65-F5344CB8AC3E}">
        <p14:creationId xmlns:p14="http://schemas.microsoft.com/office/powerpoint/2010/main" val="436440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2026-09-02T13:24:42.0950000Z</dcterms:created>
  <dcterms:modified xsi:type="dcterms:W3CDTF">2026-09-02T13:24:42.0950000Z</dcterms:modified>
</coreProperties>
</file>